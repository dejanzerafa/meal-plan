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20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C88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con-25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097280"/>
            <a:ext cx="1554480" cy="15544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651760" y="1234440"/>
            <a:ext cx="8686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600" b="1" i="0">
                <a:solidFill>
                  <a:srgbClr val="FFFFFF"/>
                </a:solidFill>
                <a:latin typeface="Georgia"/>
              </a:rPr>
              <a:t>SOULGAINZ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0" y="2084831"/>
            <a:ext cx="8686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C8873A"/>
                </a:solidFill>
                <a:latin typeface="Calibri"/>
              </a:rPr>
              <a:t>REAL FOOD  ·  MADE SIMPLE</a:t>
            </a:r>
          </a:p>
        </p:txBody>
      </p:sp>
      <p:sp>
        <p:nvSpPr>
          <p:cNvPr id="6" name="Rectangle 5"/>
          <p:cNvSpPr/>
          <p:nvPr/>
        </p:nvSpPr>
        <p:spPr>
          <a:xfrm>
            <a:off x="914400" y="2834640"/>
            <a:ext cx="10561320" cy="36576"/>
          </a:xfrm>
          <a:prstGeom prst="rect">
            <a:avLst/>
          </a:prstGeom>
          <a:solidFill>
            <a:srgbClr val="C88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3017520"/>
            <a:ext cx="1024128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 i="1">
                <a:solidFill>
                  <a:srgbClr val="F5F0E8"/>
                </a:solidFill>
                <a:latin typeface="Georgia"/>
              </a:rPr>
              <a:t>A Strategic Partnership Proposal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3611880"/>
            <a:ext cx="102412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8A745A"/>
                </a:solidFill>
                <a:latin typeface="Calibri"/>
              </a:rPr>
              <a:t>Presented to AlterEgo Gym  ·  Gate Mall, West Bay, Doha, Qatar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114800"/>
            <a:ext cx="10241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8A745A"/>
                </a:solidFill>
                <a:latin typeface="Calibri"/>
              </a:rPr>
              <a:t>Confidential  ·  May 2026</a:t>
            </a:r>
          </a:p>
        </p:txBody>
      </p:sp>
      <p:sp>
        <p:nvSpPr>
          <p:cNvPr id="10" name="Rectangle 9"/>
          <p:cNvSpPr/>
          <p:nvPr/>
        </p:nvSpPr>
        <p:spPr>
          <a:xfrm>
            <a:off x="201168" y="6172200"/>
            <a:ext cx="11987784" cy="685800"/>
          </a:xfrm>
          <a:prstGeom prst="rect">
            <a:avLst/>
          </a:prstGeom>
          <a:solidFill>
            <a:srgbClr val="261A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6217920"/>
            <a:ext cx="1127455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1">
                <a:solidFill>
                  <a:srgbClr val="C8873A"/>
                </a:solidFill>
                <a:latin typeface="Georgia"/>
              </a:rPr>
              <a:t>"Energy, Vibes &amp; Sweat"  meets  "Real Food, Made Simple"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88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11480" y="256032"/>
            <a:ext cx="2194560" cy="256032"/>
          </a:xfrm>
          <a:prstGeom prst="rect">
            <a:avLst/>
          </a:prstGeom>
          <a:solidFill>
            <a:srgbClr val="C88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265176"/>
            <a:ext cx="21945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THE CHALLENGE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621792"/>
            <a:ext cx="1136599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1A1209"/>
                </a:solidFill>
                <a:latin typeface="Georgia"/>
              </a:rPr>
              <a:t>Most gyms nail the training.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1124712"/>
            <a:ext cx="1136599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1A1209"/>
                </a:solidFill>
                <a:latin typeface="Georgia"/>
              </a:rPr>
              <a:t>Nutrition is where members fall apart.</a:t>
            </a:r>
          </a:p>
        </p:txBody>
      </p:sp>
      <p:sp>
        <p:nvSpPr>
          <p:cNvPr id="7" name="Rectangle 6"/>
          <p:cNvSpPr/>
          <p:nvPr/>
        </p:nvSpPr>
        <p:spPr>
          <a:xfrm>
            <a:off x="411480" y="1664208"/>
            <a:ext cx="11365992" cy="32004"/>
          </a:xfrm>
          <a:prstGeom prst="rect">
            <a:avLst/>
          </a:prstGeom>
          <a:solidFill>
            <a:srgbClr val="C88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11480" y="1810512"/>
            <a:ext cx="3566160" cy="3291840"/>
          </a:xfrm>
          <a:prstGeom prst="rect">
            <a:avLst/>
          </a:prstGeom>
          <a:solidFill>
            <a:srgbClr val="F0EB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11480" y="1810512"/>
            <a:ext cx="3566160" cy="64008"/>
          </a:xfrm>
          <a:prstGeom prst="rect">
            <a:avLst/>
          </a:prstGeom>
          <a:solidFill>
            <a:srgbClr val="C88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1938528"/>
            <a:ext cx="331012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A1209"/>
                </a:solidFill>
                <a:latin typeface="Georgia"/>
              </a:rPr>
              <a:t>No Nutrition System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2395728"/>
            <a:ext cx="3310128" cy="32004"/>
          </a:xfrm>
          <a:prstGeom prst="rect">
            <a:avLst/>
          </a:prstGeom>
          <a:solidFill>
            <a:srgbClr val="D8CB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2542032"/>
            <a:ext cx="333756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A2C1E"/>
                </a:solidFill>
                <a:latin typeface="Calibri"/>
              </a:rPr>
              <a:t>▪  Members train hard but eat without structure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3319272"/>
            <a:ext cx="333756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A2C1E"/>
                </a:solidFill>
                <a:latin typeface="Calibri"/>
              </a:rPr>
              <a:t>▪  No batch-cook plan matched to their macros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4096512"/>
            <a:ext cx="333756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A2C1E"/>
                </a:solidFill>
                <a:latin typeface="Calibri"/>
              </a:rPr>
              <a:t>▪  Coaches cannot track what clients eat at home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197096" y="1810512"/>
            <a:ext cx="3566160" cy="3291840"/>
          </a:xfrm>
          <a:prstGeom prst="rect">
            <a:avLst/>
          </a:prstGeom>
          <a:solidFill>
            <a:srgbClr val="F0EB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197096" y="1810512"/>
            <a:ext cx="3566160" cy="64008"/>
          </a:xfrm>
          <a:prstGeom prst="rect">
            <a:avLst/>
          </a:prstGeom>
          <a:solidFill>
            <a:srgbClr val="C88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334256" y="1938528"/>
            <a:ext cx="331012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A1209"/>
                </a:solidFill>
                <a:latin typeface="Georgia"/>
              </a:rPr>
              <a:t>Scattered, Generic Tools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334256" y="2395728"/>
            <a:ext cx="3310128" cy="32004"/>
          </a:xfrm>
          <a:prstGeom prst="rect">
            <a:avLst/>
          </a:prstGeom>
          <a:solidFill>
            <a:srgbClr val="D8CB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334256" y="2542032"/>
            <a:ext cx="333756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A2C1E"/>
                </a:solidFill>
                <a:latin typeface="Calibri"/>
              </a:rPr>
              <a:t>▪  Members juggle apps, spreadsheets, guesswork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334256" y="3319272"/>
            <a:ext cx="333756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A2C1E"/>
                </a:solidFill>
                <a:latin typeface="Calibri"/>
              </a:rPr>
              <a:t>▪  Nothing is built for the serious gym lifestyle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334256" y="4096512"/>
            <a:ext cx="333756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A2C1E"/>
                </a:solidFill>
                <a:latin typeface="Calibri"/>
              </a:rPr>
              <a:t>▪  No single source of truth for food and prep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982711" y="1810512"/>
            <a:ext cx="3566160" cy="3291840"/>
          </a:xfrm>
          <a:prstGeom prst="rect">
            <a:avLst/>
          </a:prstGeom>
          <a:solidFill>
            <a:srgbClr val="F0EB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982711" y="1810512"/>
            <a:ext cx="3566160" cy="64008"/>
          </a:xfrm>
          <a:prstGeom prst="rect">
            <a:avLst/>
          </a:prstGeom>
          <a:solidFill>
            <a:srgbClr val="C88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119871" y="1938528"/>
            <a:ext cx="331012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A1209"/>
                </a:solidFill>
                <a:latin typeface="Georgia"/>
              </a:rPr>
              <a:t>Missed Revenue for the Gym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119871" y="2395728"/>
            <a:ext cx="3310128" cy="32004"/>
          </a:xfrm>
          <a:prstGeom prst="rect">
            <a:avLst/>
          </a:prstGeom>
          <a:solidFill>
            <a:srgbClr val="D8CB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119871" y="2542032"/>
            <a:ext cx="333756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A2C1E"/>
                </a:solidFill>
                <a:latin typeface="Calibri"/>
              </a:rPr>
              <a:t>▪  Nutrition coaching is the highest-value add-on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119871" y="3319272"/>
            <a:ext cx="333756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A2C1E"/>
                </a:solidFill>
                <a:latin typeface="Calibri"/>
              </a:rPr>
              <a:t>▪  Most gyms leave this revenue entirely on the table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119871" y="4096512"/>
            <a:ext cx="333756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A2C1E"/>
                </a:solidFill>
                <a:latin typeface="Calibri"/>
              </a:rPr>
              <a:t>▪  Members who struggle with food eventually leave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11480" y="5285232"/>
            <a:ext cx="11365992" cy="713232"/>
          </a:xfrm>
          <a:prstGeom prst="rect">
            <a:avLst/>
          </a:prstGeom>
          <a:solidFill>
            <a:srgbClr val="FAF4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411480" y="5285232"/>
            <a:ext cx="64008" cy="713232"/>
          </a:xfrm>
          <a:prstGeom prst="rect">
            <a:avLst/>
          </a:prstGeom>
          <a:solidFill>
            <a:srgbClr val="C88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94360" y="5340096"/>
            <a:ext cx="11064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1">
                <a:solidFill>
                  <a:srgbClr val="A06620"/>
                </a:solidFill>
                <a:latin typeface="Georgia"/>
              </a:rPr>
              <a:t>The gym that solves nutrition becomes the gym members never leave.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88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11480" y="256032"/>
            <a:ext cx="2194560" cy="256032"/>
          </a:xfrm>
          <a:prstGeom prst="rect">
            <a:avLst/>
          </a:prstGeom>
          <a:solidFill>
            <a:srgbClr val="C88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265176"/>
            <a:ext cx="21945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THE SOLUTION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621792"/>
            <a:ext cx="1136599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1A1209"/>
                </a:solidFill>
                <a:latin typeface="Georgia"/>
              </a:rPr>
              <a:t>SoulGainz — built from scratch,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1124712"/>
            <a:ext cx="1136599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1A1209"/>
                </a:solidFill>
                <a:latin typeface="Georgia"/>
              </a:rPr>
              <a:t>for serious athletes.</a:t>
            </a:r>
          </a:p>
        </p:txBody>
      </p:sp>
      <p:sp>
        <p:nvSpPr>
          <p:cNvPr id="7" name="Rectangle 6"/>
          <p:cNvSpPr/>
          <p:nvPr/>
        </p:nvSpPr>
        <p:spPr>
          <a:xfrm>
            <a:off x="411480" y="1664208"/>
            <a:ext cx="11365992" cy="32004"/>
          </a:xfrm>
          <a:prstGeom prst="rect">
            <a:avLst/>
          </a:prstGeom>
          <a:solidFill>
            <a:srgbClr val="C88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11480" y="1810512"/>
            <a:ext cx="3931920" cy="4663440"/>
          </a:xfrm>
          <a:prstGeom prst="rect">
            <a:avLst/>
          </a:prstGeom>
          <a:solidFill>
            <a:srgbClr val="F0EB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11480" y="1810512"/>
            <a:ext cx="3931920" cy="64008"/>
          </a:xfrm>
          <a:prstGeom prst="rect">
            <a:avLst/>
          </a:prstGeom>
          <a:solidFill>
            <a:srgbClr val="C88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icon-25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45920" y="2286000"/>
            <a:ext cx="1463040" cy="146304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411480" y="3913632"/>
            <a:ext cx="39319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1A1209"/>
                </a:solidFill>
                <a:latin typeface="Georgia"/>
              </a:rPr>
              <a:t>Meal Prep App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1480" y="4315968"/>
            <a:ext cx="3931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8A745A"/>
                </a:solidFill>
                <a:latin typeface="Calibri"/>
              </a:rPr>
              <a:t>iOS + Android  |  Offline-first PWA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4709160"/>
            <a:ext cx="3749039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3A2C1E"/>
                </a:solidFill>
                <a:latin typeface="Calibri"/>
              </a:rPr>
              <a:t>Installs to home screen. Works without
internet. No App Store required.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26280" y="1810512"/>
            <a:ext cx="7251192" cy="841248"/>
          </a:xfrm>
          <a:prstGeom prst="rect">
            <a:avLst/>
          </a:prstGeom>
          <a:solidFill>
            <a:srgbClr val="F0EB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526280" y="1810512"/>
            <a:ext cx="64008" cy="841248"/>
          </a:xfrm>
          <a:prstGeom prst="rect">
            <a:avLst/>
          </a:prstGeom>
          <a:solidFill>
            <a:srgbClr val="C88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681728" y="1883664"/>
            <a:ext cx="69951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1209"/>
                </a:solidFill>
                <a:latin typeface="Georgia"/>
              </a:rPr>
              <a:t>94 real-food batch recipes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81728" y="2212848"/>
            <a:ext cx="69951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A2C1E"/>
                </a:solidFill>
                <a:latin typeface="Calibri"/>
              </a:rPr>
              <a:t>Mains, breakfast, dessert, pre-workout. No supplements, no filler.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26280" y="2743200"/>
            <a:ext cx="7251192" cy="841248"/>
          </a:xfrm>
          <a:prstGeom prst="rect">
            <a:avLst/>
          </a:prstGeom>
          <a:solidFill>
            <a:srgbClr val="F0EB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526280" y="2743200"/>
            <a:ext cx="64008" cy="841248"/>
          </a:xfrm>
          <a:prstGeom prst="rect">
            <a:avLst/>
          </a:prstGeom>
          <a:solidFill>
            <a:srgbClr val="C88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681728" y="2816352"/>
            <a:ext cx="69951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1209"/>
                </a:solidFill>
                <a:latin typeface="Georgia"/>
              </a:rPr>
              <a:t>Dynamic macro scaling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681728" y="3145536"/>
            <a:ext cx="69951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A2C1E"/>
                </a:solidFill>
                <a:latin typeface="Calibri"/>
              </a:rPr>
              <a:t>Every portion auto-adjusts to the member's personal calorie target.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526280" y="3675887"/>
            <a:ext cx="7251192" cy="841248"/>
          </a:xfrm>
          <a:prstGeom prst="rect">
            <a:avLst/>
          </a:prstGeom>
          <a:solidFill>
            <a:srgbClr val="F0EB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526280" y="3675887"/>
            <a:ext cx="64008" cy="841248"/>
          </a:xfrm>
          <a:prstGeom prst="rect">
            <a:avLst/>
          </a:prstGeom>
          <a:solidFill>
            <a:srgbClr val="C88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681728" y="3749039"/>
            <a:ext cx="69951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1209"/>
                </a:solidFill>
                <a:latin typeface="Georgia"/>
              </a:rPr>
              <a:t>Smart weekly shopping lists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681728" y="4078224"/>
            <a:ext cx="69951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A2C1E"/>
                </a:solidFill>
                <a:latin typeface="Calibri"/>
              </a:rPr>
              <a:t>Batch-size lists per recipe, scaled to 3 / 5 / 7-day preps.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526280" y="4608576"/>
            <a:ext cx="7251192" cy="841248"/>
          </a:xfrm>
          <a:prstGeom prst="rect">
            <a:avLst/>
          </a:prstGeom>
          <a:solidFill>
            <a:srgbClr val="F0EB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4526280" y="4608576"/>
            <a:ext cx="64008" cy="841248"/>
          </a:xfrm>
          <a:prstGeom prst="rect">
            <a:avLst/>
          </a:prstGeom>
          <a:solidFill>
            <a:srgbClr val="C88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681728" y="4681728"/>
            <a:ext cx="69951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1209"/>
                </a:solidFill>
                <a:latin typeface="Georgia"/>
              </a:rPr>
              <a:t>Dietary &amp; cooking filters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681728" y="5010912"/>
            <a:ext cx="69951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A2C1E"/>
                </a:solidFill>
                <a:latin typeface="Calibri"/>
              </a:rPr>
              <a:t>Gluten-free, dairy-free, egg-free + cooking method filters.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526280" y="5541264"/>
            <a:ext cx="7251192" cy="841248"/>
          </a:xfrm>
          <a:prstGeom prst="rect">
            <a:avLst/>
          </a:prstGeom>
          <a:solidFill>
            <a:srgbClr val="F0EB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4526280" y="5541264"/>
            <a:ext cx="64008" cy="841248"/>
          </a:xfrm>
          <a:prstGeom prst="rect">
            <a:avLst/>
          </a:prstGeom>
          <a:solidFill>
            <a:srgbClr val="C88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681728" y="5614416"/>
            <a:ext cx="69951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1209"/>
                </a:solidFill>
                <a:latin typeface="Georgia"/>
              </a:rPr>
              <a:t>Privacy-first, zero friction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681728" y="5943600"/>
            <a:ext cx="69951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A2C1E"/>
                </a:solidFill>
                <a:latin typeface="Calibri"/>
              </a:rPr>
              <a:t>No accounts needed. Data stays on device. Open and go.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88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11480" y="256032"/>
            <a:ext cx="2194560" cy="256032"/>
          </a:xfrm>
          <a:prstGeom prst="rect">
            <a:avLst/>
          </a:prstGeom>
          <a:solidFill>
            <a:srgbClr val="C88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265176"/>
            <a:ext cx="21945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THE ECOSYSTEM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621792"/>
            <a:ext cx="1136599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1A1209"/>
                </a:solidFill>
                <a:latin typeface="Georgia"/>
              </a:rPr>
              <a:t>Three apps.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1124712"/>
            <a:ext cx="1136599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1A1209"/>
                </a:solidFill>
                <a:latin typeface="Georgia"/>
              </a:rPr>
              <a:t>One complete athlete toolkit.</a:t>
            </a:r>
          </a:p>
        </p:txBody>
      </p:sp>
      <p:sp>
        <p:nvSpPr>
          <p:cNvPr id="7" name="Rectangle 6"/>
          <p:cNvSpPr/>
          <p:nvPr/>
        </p:nvSpPr>
        <p:spPr>
          <a:xfrm>
            <a:off x="411480" y="1664208"/>
            <a:ext cx="11365992" cy="32004"/>
          </a:xfrm>
          <a:prstGeom prst="rect">
            <a:avLst/>
          </a:prstGeom>
          <a:solidFill>
            <a:srgbClr val="C88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11480" y="1810512"/>
            <a:ext cx="3566160" cy="4663440"/>
          </a:xfrm>
          <a:prstGeom prst="rect">
            <a:avLst/>
          </a:prstGeom>
          <a:solidFill>
            <a:srgbClr val="F0EB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11480" y="1810512"/>
            <a:ext cx="3566160" cy="64008"/>
          </a:xfrm>
          <a:prstGeom prst="rect">
            <a:avLst/>
          </a:prstGeom>
          <a:solidFill>
            <a:srgbClr val="228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icon-25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91639" y="1975104"/>
            <a:ext cx="1005840" cy="1005840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>
          <a:xfrm>
            <a:off x="868680" y="3108960"/>
            <a:ext cx="2651760" cy="256032"/>
          </a:xfrm>
          <a:prstGeom prst="rect">
            <a:avLst/>
          </a:prstGeom>
          <a:solidFill>
            <a:srgbClr val="228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3108960"/>
            <a:ext cx="2651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LIVE NOW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3474720"/>
            <a:ext cx="331012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1A1209"/>
                </a:solidFill>
                <a:latin typeface="Georgia"/>
              </a:rPr>
              <a:t>Meal Prep App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94360" y="3913631"/>
            <a:ext cx="3218688" cy="32004"/>
          </a:xfrm>
          <a:prstGeom prst="rect">
            <a:avLst/>
          </a:prstGeom>
          <a:solidFill>
            <a:srgbClr val="D8CB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76072" y="4050791"/>
            <a:ext cx="327355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3A2C1E"/>
                </a:solidFill>
                <a:latin typeface="Calibri"/>
              </a:rPr>
              <a:t>▪  94 batch-cook recipes across all categories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76072" y="4507992"/>
            <a:ext cx="327355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3A2C1E"/>
                </a:solidFill>
                <a:latin typeface="Calibri"/>
              </a:rPr>
              <a:t>▪  Dynamic macro scaling per calorie target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76072" y="4965192"/>
            <a:ext cx="327355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3A2C1E"/>
                </a:solidFill>
                <a:latin typeface="Calibri"/>
              </a:rPr>
              <a:t>▪  Smart shopping lists (3 / 5 / 7-day prep)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76072" y="5422392"/>
            <a:ext cx="327355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3A2C1E"/>
                </a:solidFill>
                <a:latin typeface="Calibri"/>
              </a:rPr>
              <a:t>▪  Dietary filters + search + pre-workout plans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76072" y="5879592"/>
            <a:ext cx="327355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3A2C1E"/>
                </a:solidFill>
                <a:latin typeface="Calibri"/>
              </a:rPr>
              <a:t>▪  Full offline-first PWA, no App Store needed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197096" y="1810512"/>
            <a:ext cx="3566160" cy="4663440"/>
          </a:xfrm>
          <a:prstGeom prst="rect">
            <a:avLst/>
          </a:prstGeom>
          <a:solidFill>
            <a:srgbClr val="F0EB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197096" y="1810512"/>
            <a:ext cx="3566160" cy="64008"/>
          </a:xfrm>
          <a:prstGeom prst="rect">
            <a:avLst/>
          </a:prstGeom>
          <a:solidFill>
            <a:srgbClr val="C88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522976" y="1975104"/>
            <a:ext cx="914400" cy="914400"/>
          </a:xfrm>
          <a:prstGeom prst="rect">
            <a:avLst/>
          </a:prstGeom>
          <a:solidFill>
            <a:srgbClr val="D8CB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522976" y="1975104"/>
            <a:ext cx="914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8A745A"/>
                </a:solidFill>
                <a:latin typeface="Calibri"/>
              </a:rPr>
              <a:t>SUPPS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654296" y="3108960"/>
            <a:ext cx="2651760" cy="256032"/>
          </a:xfrm>
          <a:prstGeom prst="rect">
            <a:avLst/>
          </a:prstGeom>
          <a:solidFill>
            <a:srgbClr val="C88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654296" y="3108960"/>
            <a:ext cx="2651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IN DEVELOPMENT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334256" y="3474720"/>
            <a:ext cx="331012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1A1209"/>
                </a:solidFill>
                <a:latin typeface="Georgia"/>
              </a:rPr>
              <a:t>Supplement Tracker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379976" y="3913631"/>
            <a:ext cx="3218688" cy="32004"/>
          </a:xfrm>
          <a:prstGeom prst="rect">
            <a:avLst/>
          </a:prstGeom>
          <a:solidFill>
            <a:srgbClr val="D8CB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361688" y="4050791"/>
            <a:ext cx="327355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3A2C1E"/>
                </a:solidFill>
                <a:latin typeface="Calibri"/>
              </a:rPr>
              <a:t>▪  Daily supplement intake logging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361688" y="4507992"/>
            <a:ext cx="327355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3A2C1E"/>
                </a:solidFill>
                <a:latin typeface="Calibri"/>
              </a:rPr>
              <a:t>▪  Timing &amp; dosage reminders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361688" y="4965192"/>
            <a:ext cx="327355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3A2C1E"/>
                </a:solidFill>
                <a:latin typeface="Calibri"/>
              </a:rPr>
              <a:t>▪  Stack compliance tracking over time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361688" y="5422392"/>
            <a:ext cx="327355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3A2C1E"/>
                </a:solidFill>
                <a:latin typeface="Calibri"/>
              </a:rPr>
              <a:t>▪  Cross-reference intake with macro targets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361688" y="5879592"/>
            <a:ext cx="327355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3A2C1E"/>
                </a:solidFill>
                <a:latin typeface="Calibri"/>
              </a:rPr>
              <a:t>▪  Coach visibility dashboard (future)</a:t>
            </a:r>
          </a:p>
        </p:txBody>
      </p:sp>
      <p:sp>
        <p:nvSpPr>
          <p:cNvPr id="33" name="Rectangle 32"/>
          <p:cNvSpPr/>
          <p:nvPr/>
        </p:nvSpPr>
        <p:spPr>
          <a:xfrm>
            <a:off x="7982711" y="1810512"/>
            <a:ext cx="3566160" cy="4663440"/>
          </a:xfrm>
          <a:prstGeom prst="rect">
            <a:avLst/>
          </a:prstGeom>
          <a:solidFill>
            <a:srgbClr val="F0EB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7982711" y="1810512"/>
            <a:ext cx="3566160" cy="64008"/>
          </a:xfrm>
          <a:prstGeom prst="rect">
            <a:avLst/>
          </a:prstGeom>
          <a:solidFill>
            <a:srgbClr val="C88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9308591" y="1975104"/>
            <a:ext cx="914400" cy="914400"/>
          </a:xfrm>
          <a:prstGeom prst="rect">
            <a:avLst/>
          </a:prstGeom>
          <a:solidFill>
            <a:srgbClr val="D8CB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308591" y="1975104"/>
            <a:ext cx="914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8A745A"/>
                </a:solidFill>
                <a:latin typeface="Calibri"/>
              </a:rPr>
              <a:t>BODY</a:t>
            </a:r>
          </a:p>
        </p:txBody>
      </p:sp>
      <p:sp>
        <p:nvSpPr>
          <p:cNvPr id="37" name="Rectangle 36"/>
          <p:cNvSpPr/>
          <p:nvPr/>
        </p:nvSpPr>
        <p:spPr>
          <a:xfrm>
            <a:off x="8439911" y="3108960"/>
            <a:ext cx="2651760" cy="256032"/>
          </a:xfrm>
          <a:prstGeom prst="rect">
            <a:avLst/>
          </a:prstGeom>
          <a:solidFill>
            <a:srgbClr val="C88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439911" y="3108960"/>
            <a:ext cx="2651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IN DEVELOPMENT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119871" y="3474720"/>
            <a:ext cx="331012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1A1209"/>
                </a:solidFill>
                <a:latin typeface="Georgia"/>
              </a:rPr>
              <a:t>Body Comp Tracker</a:t>
            </a:r>
          </a:p>
        </p:txBody>
      </p:sp>
      <p:sp>
        <p:nvSpPr>
          <p:cNvPr id="40" name="Rectangle 39"/>
          <p:cNvSpPr/>
          <p:nvPr/>
        </p:nvSpPr>
        <p:spPr>
          <a:xfrm>
            <a:off x="8165591" y="3913631"/>
            <a:ext cx="3218688" cy="32004"/>
          </a:xfrm>
          <a:prstGeom prst="rect">
            <a:avLst/>
          </a:prstGeom>
          <a:solidFill>
            <a:srgbClr val="D8CB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147303" y="4050791"/>
            <a:ext cx="327355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3A2C1E"/>
                </a:solidFill>
                <a:latin typeface="Calibri"/>
              </a:rPr>
              <a:t>▪  Weekly weight &amp; measurement logging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147303" y="4507992"/>
            <a:ext cx="327355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3A2C1E"/>
                </a:solidFill>
                <a:latin typeface="Calibri"/>
              </a:rPr>
              <a:t>▪  Body fat % trend graphs over time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147303" y="4965192"/>
            <a:ext cx="327355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3A2C1E"/>
                </a:solidFill>
                <a:latin typeface="Calibri"/>
              </a:rPr>
              <a:t>▪  Progress photo timeline with comparisons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147303" y="5422392"/>
            <a:ext cx="327355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3A2C1E"/>
                </a:solidFill>
                <a:latin typeface="Calibri"/>
              </a:rPr>
              <a:t>▪  Goal vs actual tracking week by week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147303" y="5879592"/>
            <a:ext cx="327355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3A2C1E"/>
                </a:solidFill>
                <a:latin typeface="Calibri"/>
              </a:rPr>
              <a:t>▪  Coach note integration per client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11480" y="6510528"/>
            <a:ext cx="1136599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 i="1">
                <a:solidFill>
                  <a:srgbClr val="8A745A"/>
                </a:solidFill>
                <a:latin typeface="Calibri"/>
              </a:rPr>
              <a:t>Meal Prep App is live and battle-tested.  Supplement Tracker and Body Comp Tracker complete the elite member digital stack.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88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11480" y="256032"/>
            <a:ext cx="2194560" cy="256032"/>
          </a:xfrm>
          <a:prstGeom prst="rect">
            <a:avLst/>
          </a:prstGeom>
          <a:solidFill>
            <a:srgbClr val="C88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265176"/>
            <a:ext cx="21945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THE VISION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621792"/>
            <a:ext cx="1136599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1A1209"/>
                </a:solidFill>
                <a:latin typeface="Georgia"/>
              </a:rPr>
              <a:t>AlterEgo is more than a gym.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1124712"/>
            <a:ext cx="1136599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1A1209"/>
                </a:solidFill>
                <a:latin typeface="Georgia"/>
              </a:rPr>
              <a:t>It is a performance lifestyle hub.</a:t>
            </a:r>
          </a:p>
        </p:txBody>
      </p:sp>
      <p:sp>
        <p:nvSpPr>
          <p:cNvPr id="7" name="Rectangle 6"/>
          <p:cNvSpPr/>
          <p:nvPr/>
        </p:nvSpPr>
        <p:spPr>
          <a:xfrm>
            <a:off x="411480" y="1664208"/>
            <a:ext cx="11365992" cy="32004"/>
          </a:xfrm>
          <a:prstGeom prst="rect">
            <a:avLst/>
          </a:prstGeom>
          <a:solidFill>
            <a:srgbClr val="C88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11480" y="1810512"/>
            <a:ext cx="5577840" cy="4663440"/>
          </a:xfrm>
          <a:prstGeom prst="rect">
            <a:avLst/>
          </a:prstGeom>
          <a:solidFill>
            <a:srgbClr val="F0EB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11480" y="1810512"/>
            <a:ext cx="5577840" cy="64008"/>
          </a:xfrm>
          <a:prstGeom prst="rect">
            <a:avLst/>
          </a:prstGeom>
          <a:solidFill>
            <a:srgbClr val="C88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66928" y="1920240"/>
            <a:ext cx="5266944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1A1209"/>
                </a:solidFill>
                <a:latin typeface="Georgia"/>
              </a:rPr>
              <a:t>What AlterEgo Members Need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66928" y="2377440"/>
            <a:ext cx="5266944" cy="32004"/>
          </a:xfrm>
          <a:prstGeom prst="rect">
            <a:avLst/>
          </a:prstGeom>
          <a:solidFill>
            <a:srgbClr val="D8CB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66928" y="2514600"/>
            <a:ext cx="5266944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3A2C1E"/>
                </a:solidFill>
                <a:latin typeface="Calibri"/>
              </a:rPr>
              <a:t>✓  A nutrition system that matches their training intensity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66928" y="3264408"/>
            <a:ext cx="5266944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3A2C1E"/>
                </a:solidFill>
                <a:latin typeface="Calibri"/>
              </a:rPr>
              <a:t>✓  Meal prep plans that fit a busy Doha lifestyle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66928" y="4014215"/>
            <a:ext cx="5266944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3A2C1E"/>
                </a:solidFill>
                <a:latin typeface="Calibri"/>
              </a:rPr>
              <a:t>✓  Real data on body composition progress week to week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66928" y="4764024"/>
            <a:ext cx="5266944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3A2C1E"/>
                </a:solidFill>
                <a:latin typeface="Calibri"/>
              </a:rPr>
              <a:t>✓  Supplement stacks they can track and optimise over time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66928" y="5513831"/>
            <a:ext cx="5266944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3A2C1E"/>
                </a:solidFill>
                <a:latin typeface="Calibri"/>
              </a:rPr>
              <a:t>✓  A premium digital toolkit that feels as good as the gym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172200" y="1810512"/>
            <a:ext cx="5605272" cy="4663440"/>
          </a:xfrm>
          <a:prstGeom prst="rect">
            <a:avLst/>
          </a:prstGeom>
          <a:solidFill>
            <a:srgbClr val="1A12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0" y="1874519"/>
            <a:ext cx="52120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0" b="0" i="0">
                <a:solidFill>
                  <a:srgbClr val="C8873A"/>
                </a:solidFill>
                <a:latin typeface="Georgia"/>
              </a:rPr>
              <a:t>“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0" y="2514600"/>
            <a:ext cx="521208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1">
                <a:solidFill>
                  <a:srgbClr val="F5F0E8"/>
                </a:solidFill>
                <a:latin typeface="Georgia"/>
              </a:rPr>
              <a:t>Imagine every AlterEgo member walks in with their meal prep done, their macros dialled, and their body composition tracked week to week.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0" y="4572000"/>
            <a:ext cx="521208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C8873A"/>
                </a:solidFill>
                <a:latin typeface="Calibri"/>
              </a:rPr>
              <a:t>That is the partnership we are proposing.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0" y="5074920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8A745A"/>
                </a:solidFill>
                <a:latin typeface="Calibri"/>
              </a:rPr>
              <a:t>  —  SoulGainz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88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11480" y="256032"/>
            <a:ext cx="2194560" cy="256032"/>
          </a:xfrm>
          <a:prstGeom prst="rect">
            <a:avLst/>
          </a:prstGeom>
          <a:solidFill>
            <a:srgbClr val="C88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265176"/>
            <a:ext cx="21945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THE PROPOSAL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621792"/>
            <a:ext cx="1136599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1A1209"/>
                </a:solidFill>
                <a:latin typeface="Georgia"/>
              </a:rPr>
              <a:t>What we are putting on the table.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1188720"/>
            <a:ext cx="11365992" cy="32004"/>
          </a:xfrm>
          <a:prstGeom prst="rect">
            <a:avLst/>
          </a:prstGeom>
          <a:solidFill>
            <a:srgbClr val="C88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11480" y="1353312"/>
            <a:ext cx="5394960" cy="2212848"/>
          </a:xfrm>
          <a:prstGeom prst="rect">
            <a:avLst/>
          </a:prstGeom>
          <a:solidFill>
            <a:srgbClr val="F0EB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11480" y="1353312"/>
            <a:ext cx="64008" cy="2212848"/>
          </a:xfrm>
          <a:prstGeom prst="rect">
            <a:avLst/>
          </a:prstGeom>
          <a:solidFill>
            <a:srgbClr val="C88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" y="1463040"/>
            <a:ext cx="51206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A1209"/>
                </a:solidFill>
                <a:latin typeface="Georgia"/>
              </a:rPr>
              <a:t>Exclusive Gym Partnership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1901952"/>
            <a:ext cx="512064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A2C1E"/>
                </a:solidFill>
                <a:latin typeface="Calibri"/>
              </a:rPr>
              <a:t>SoulGainz becomes the official nutrition and meal prep platform for AlterEgo. Co-branded option available. Members receive a premium digital experience no other gym in Doha currently offers.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153912" y="1353312"/>
            <a:ext cx="5394960" cy="2212848"/>
          </a:xfrm>
          <a:prstGeom prst="rect">
            <a:avLst/>
          </a:prstGeom>
          <a:solidFill>
            <a:srgbClr val="F0EB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153912" y="1353312"/>
            <a:ext cx="64008" cy="2212848"/>
          </a:xfrm>
          <a:prstGeom prst="rect">
            <a:avLst/>
          </a:prstGeom>
          <a:solidFill>
            <a:srgbClr val="C88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36792" y="1463040"/>
            <a:ext cx="51206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A1209"/>
                </a:solidFill>
                <a:latin typeface="Georgia"/>
              </a:rPr>
              <a:t>Member Onboarding Integration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36792" y="1901952"/>
            <a:ext cx="512064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A2C1E"/>
                </a:solidFill>
                <a:latin typeface="Calibri"/>
              </a:rPr>
              <a:t>New members get access to the app as part of their welcome pack. QR code at reception, coach referral links, and onboarding cards. Zero friction: scan and go.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11480" y="3749039"/>
            <a:ext cx="5394960" cy="2212848"/>
          </a:xfrm>
          <a:prstGeom prst="rect">
            <a:avLst/>
          </a:prstGeom>
          <a:solidFill>
            <a:srgbClr val="F0EB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11480" y="3749039"/>
            <a:ext cx="64008" cy="2212848"/>
          </a:xfrm>
          <a:prstGeom prst="rect">
            <a:avLst/>
          </a:prstGeom>
          <a:solidFill>
            <a:srgbClr val="C88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94360" y="3858768"/>
            <a:ext cx="51206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A1209"/>
                </a:solidFill>
                <a:latin typeface="Georgia"/>
              </a:rPr>
              <a:t>Coach and Trainer Dashboard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94360" y="4297679"/>
            <a:ext cx="512064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A2C1E"/>
                </a:solidFill>
                <a:latin typeface="Calibri"/>
              </a:rPr>
              <a:t>A future coach-facing layer gives AlterEgo trainers visibility into client nutrition compliance, macro targets, and meal prep activity — bridging the gap between the gym floor and the kitchen.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153912" y="3749039"/>
            <a:ext cx="5394960" cy="2212848"/>
          </a:xfrm>
          <a:prstGeom prst="rect">
            <a:avLst/>
          </a:prstGeom>
          <a:solidFill>
            <a:srgbClr val="F0EB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153912" y="3749039"/>
            <a:ext cx="64008" cy="2212848"/>
          </a:xfrm>
          <a:prstGeom prst="rect">
            <a:avLst/>
          </a:prstGeom>
          <a:solidFill>
            <a:srgbClr val="C88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336792" y="3858768"/>
            <a:ext cx="51206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A1209"/>
                </a:solidFill>
                <a:latin typeface="Georgia"/>
              </a:rPr>
              <a:t>Elite Tier Integration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36792" y="4297679"/>
            <a:ext cx="512064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A2C1E"/>
                </a:solidFill>
                <a:latin typeface="Calibri"/>
              </a:rPr>
              <a:t>The full app suite becomes the premium digital benefit for AlterEgo elite or VIP members — a tangible differentiator versus every competitor gym in Doha.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88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11480" y="256032"/>
            <a:ext cx="2194560" cy="256032"/>
          </a:xfrm>
          <a:prstGeom prst="rect">
            <a:avLst/>
          </a:prstGeom>
          <a:solidFill>
            <a:srgbClr val="C88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265176"/>
            <a:ext cx="21945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PARTNERSHIP STRUCTURE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621792"/>
            <a:ext cx="1136599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1A1209"/>
                </a:solidFill>
                <a:latin typeface="Georgia"/>
              </a:rPr>
              <a:t>Flexible models. No equity required.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1188720"/>
            <a:ext cx="11365992" cy="32004"/>
          </a:xfrm>
          <a:prstGeom prst="rect">
            <a:avLst/>
          </a:prstGeom>
          <a:solidFill>
            <a:srgbClr val="C88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11480" y="1353312"/>
            <a:ext cx="11365992" cy="475488"/>
          </a:xfrm>
          <a:prstGeom prst="rect">
            <a:avLst/>
          </a:prstGeom>
          <a:solidFill>
            <a:srgbClr val="FAF4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11480" y="1353312"/>
            <a:ext cx="64008" cy="475488"/>
          </a:xfrm>
          <a:prstGeom prst="rect">
            <a:avLst/>
          </a:prstGeom>
          <a:solidFill>
            <a:srgbClr val="C88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66928" y="1389888"/>
            <a:ext cx="110642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1">
                <a:solidFill>
                  <a:srgbClr val="A06620"/>
                </a:solidFill>
                <a:latin typeface="Calibri"/>
              </a:rPr>
              <a:t>SoulGainz remains 100% independently owned. The models below create mutual value without diluting IP or ownership.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11480" y="1993392"/>
            <a:ext cx="3566160" cy="4315968"/>
          </a:xfrm>
          <a:prstGeom prst="rect">
            <a:avLst/>
          </a:prstGeom>
          <a:solidFill>
            <a:srgbClr val="F0EB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11480" y="1993392"/>
            <a:ext cx="3566160" cy="64008"/>
          </a:xfrm>
          <a:prstGeom prst="rect">
            <a:avLst/>
          </a:prstGeom>
          <a:solidFill>
            <a:srgbClr val="228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48640" y="2121408"/>
            <a:ext cx="3310128" cy="256032"/>
          </a:xfrm>
          <a:prstGeom prst="rect">
            <a:avLst/>
          </a:prstGeom>
          <a:solidFill>
            <a:srgbClr val="228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48640" y="2121408"/>
            <a:ext cx="331012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RECOMMENDED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2468880"/>
            <a:ext cx="3310128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1209"/>
                </a:solidFill>
                <a:latin typeface="Georgia"/>
              </a:rPr>
              <a:t>Model A  —  Revenue Royalty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" y="3044952"/>
            <a:ext cx="3310128" cy="32004"/>
          </a:xfrm>
          <a:prstGeom prst="rect">
            <a:avLst/>
          </a:prstGeom>
          <a:solidFill>
            <a:srgbClr val="D8CB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76072" y="3182112"/>
            <a:ext cx="327355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A2C1E"/>
                </a:solidFill>
                <a:latin typeface="Calibri"/>
              </a:rPr>
              <a:t>▪  AlterEgo promotes the app to members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76072" y="3794760"/>
            <a:ext cx="327355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A2C1E"/>
                </a:solidFill>
                <a:latin typeface="Calibri"/>
              </a:rPr>
              <a:t>▪  Agreed royalty per active premium member per month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76072" y="4407408"/>
            <a:ext cx="327355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A2C1E"/>
                </a:solidFill>
                <a:latin typeface="Calibri"/>
              </a:rPr>
              <a:t>▪  No upfront cost to the gym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76072" y="5020056"/>
            <a:ext cx="327355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A2C1E"/>
                </a:solidFill>
                <a:latin typeface="Calibri"/>
              </a:rPr>
              <a:t>▪  Scales as membership grows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76072" y="5632704"/>
            <a:ext cx="327355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A2C1E"/>
                </a:solidFill>
                <a:latin typeface="Calibri"/>
              </a:rPr>
              <a:t>▪  Renewable annually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197096" y="1993392"/>
            <a:ext cx="3566160" cy="4315968"/>
          </a:xfrm>
          <a:prstGeom prst="rect">
            <a:avLst/>
          </a:prstGeom>
          <a:solidFill>
            <a:srgbClr val="F0EB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197096" y="1993392"/>
            <a:ext cx="3566160" cy="64008"/>
          </a:xfrm>
          <a:prstGeom prst="rect">
            <a:avLst/>
          </a:prstGeom>
          <a:solidFill>
            <a:srgbClr val="C88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334256" y="2121408"/>
            <a:ext cx="3310128" cy="256032"/>
          </a:xfrm>
          <a:prstGeom prst="rect">
            <a:avLst/>
          </a:prstGeom>
          <a:solidFill>
            <a:srgbClr val="C88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334256" y="2121408"/>
            <a:ext cx="331012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FLEXIBLE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334256" y="2468880"/>
            <a:ext cx="3310128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1209"/>
                </a:solidFill>
                <a:latin typeface="Georgia"/>
              </a:rPr>
              <a:t>Model B  —  Co-Brand Partnership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334256" y="3044952"/>
            <a:ext cx="3310128" cy="32004"/>
          </a:xfrm>
          <a:prstGeom prst="rect">
            <a:avLst/>
          </a:prstGeom>
          <a:solidFill>
            <a:srgbClr val="D8CB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361688" y="3182112"/>
            <a:ext cx="327355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A2C1E"/>
                </a:solidFill>
                <a:latin typeface="Calibri"/>
              </a:rPr>
              <a:t>▪  AlterEgo-branded version of the app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361688" y="3794760"/>
            <a:ext cx="327355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A2C1E"/>
                </a:solidFill>
                <a:latin typeface="Calibri"/>
              </a:rPr>
              <a:t>▪  Logo and colours integrated throughout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361688" y="4407408"/>
            <a:ext cx="327355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A2C1E"/>
                </a:solidFill>
                <a:latin typeface="Calibri"/>
              </a:rPr>
              <a:t>▪  Exclusive to AlterEgo members in Doha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361688" y="5020056"/>
            <a:ext cx="327355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A2C1E"/>
                </a:solidFill>
                <a:latin typeface="Calibri"/>
              </a:rPr>
              <a:t>▪  Joint marketing and social media content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361688" y="5632704"/>
            <a:ext cx="327355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A2C1E"/>
                </a:solidFill>
                <a:latin typeface="Calibri"/>
              </a:rPr>
              <a:t>▪  Defined exclusivity and renewal terms</a:t>
            </a:r>
          </a:p>
        </p:txBody>
      </p:sp>
      <p:sp>
        <p:nvSpPr>
          <p:cNvPr id="32" name="Rectangle 31"/>
          <p:cNvSpPr/>
          <p:nvPr/>
        </p:nvSpPr>
        <p:spPr>
          <a:xfrm>
            <a:off x="7982711" y="1993392"/>
            <a:ext cx="3566160" cy="4315968"/>
          </a:xfrm>
          <a:prstGeom prst="rect">
            <a:avLst/>
          </a:prstGeom>
          <a:solidFill>
            <a:srgbClr val="F0EB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7982711" y="1993392"/>
            <a:ext cx="3566160" cy="64008"/>
          </a:xfrm>
          <a:prstGeom prst="rect">
            <a:avLst/>
          </a:prstGeom>
          <a:solidFill>
            <a:srgbClr val="8A74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8119871" y="2121408"/>
            <a:ext cx="3310128" cy="256032"/>
          </a:xfrm>
          <a:prstGeom prst="rect">
            <a:avLst/>
          </a:prstGeom>
          <a:solidFill>
            <a:srgbClr val="8A74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119871" y="2121408"/>
            <a:ext cx="331012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FUTURE PHASE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119871" y="2468880"/>
            <a:ext cx="3310128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1209"/>
                </a:solidFill>
                <a:latin typeface="Georgia"/>
              </a:rPr>
              <a:t>Model C  —  Data + Coaching Access</a:t>
            </a:r>
          </a:p>
        </p:txBody>
      </p:sp>
      <p:sp>
        <p:nvSpPr>
          <p:cNvPr id="37" name="Rectangle 36"/>
          <p:cNvSpPr/>
          <p:nvPr/>
        </p:nvSpPr>
        <p:spPr>
          <a:xfrm>
            <a:off x="8119871" y="3044952"/>
            <a:ext cx="3310128" cy="32004"/>
          </a:xfrm>
          <a:prstGeom prst="rect">
            <a:avLst/>
          </a:prstGeom>
          <a:solidFill>
            <a:srgbClr val="D8CB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147303" y="3182112"/>
            <a:ext cx="327355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A2C1E"/>
                </a:solidFill>
                <a:latin typeface="Calibri"/>
              </a:rPr>
              <a:t>▪  Trainer dashboard access included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147303" y="3794760"/>
            <a:ext cx="327355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A2C1E"/>
                </a:solidFill>
                <a:latin typeface="Calibri"/>
              </a:rPr>
              <a:t>▪  Aggregated member nutrition insights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147303" y="4407408"/>
            <a:ext cx="327355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A2C1E"/>
                </a:solidFill>
                <a:latin typeface="Calibri"/>
              </a:rPr>
              <a:t>▪  Custom recipe sets per coach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147303" y="5020056"/>
            <a:ext cx="327355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A2C1E"/>
                </a:solidFill>
                <a:latin typeface="Calibri"/>
              </a:rPr>
              <a:t>▪  Supplement stack tracking per client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147303" y="5632704"/>
            <a:ext cx="327355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A2C1E"/>
                </a:solidFill>
                <a:latin typeface="Calibri"/>
              </a:rPr>
              <a:t>▪  Body comp data linked to coaching plans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11480" y="6492240"/>
            <a:ext cx="1136599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 i="1">
                <a:solidFill>
                  <a:srgbClr val="8A745A"/>
                </a:solidFill>
                <a:latin typeface="Calibri"/>
              </a:rPr>
              <a:t>Models can be combined. All terms are open to discussion. Our priority is a partnership that works fairly for both sides.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88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11480" y="256032"/>
            <a:ext cx="2194560" cy="256032"/>
          </a:xfrm>
          <a:prstGeom prst="rect">
            <a:avLst/>
          </a:prstGeom>
          <a:solidFill>
            <a:srgbClr val="C88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265176"/>
            <a:ext cx="21945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EXPANSION ROADMAP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621792"/>
            <a:ext cx="1136599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1A1209"/>
                </a:solidFill>
                <a:latin typeface="Georgia"/>
              </a:rPr>
              <a:t>From AlterEgo Doha to the GCC and beyond.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1188720"/>
            <a:ext cx="11365992" cy="32004"/>
          </a:xfrm>
          <a:prstGeom prst="rect">
            <a:avLst/>
          </a:prstGeom>
          <a:solidFill>
            <a:srgbClr val="C88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11480" y="3657600"/>
            <a:ext cx="11365992" cy="45720"/>
          </a:xfrm>
          <a:prstGeom prst="rect">
            <a:avLst/>
          </a:prstGeom>
          <a:solidFill>
            <a:srgbClr val="D0C4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613916" y="3520440"/>
            <a:ext cx="292608" cy="292608"/>
          </a:xfrm>
          <a:prstGeom prst="rect">
            <a:avLst/>
          </a:prstGeom>
          <a:solidFill>
            <a:srgbClr val="C88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11480" y="1353312"/>
            <a:ext cx="2697480" cy="2084831"/>
          </a:xfrm>
          <a:prstGeom prst="rect">
            <a:avLst/>
          </a:prstGeom>
          <a:solidFill>
            <a:srgbClr val="F0EB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11480" y="1353312"/>
            <a:ext cx="2697480" cy="64008"/>
          </a:xfrm>
          <a:prstGeom prst="rect">
            <a:avLst/>
          </a:prstGeom>
          <a:solidFill>
            <a:srgbClr val="C88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21208" y="1444752"/>
            <a:ext cx="249631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A06620"/>
                </a:solidFill>
                <a:latin typeface="Calibri"/>
              </a:rPr>
              <a:t>Phase 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21208" y="1737360"/>
            <a:ext cx="249631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A745A"/>
                </a:solidFill>
                <a:latin typeface="Calibri"/>
              </a:rPr>
              <a:t>Q3 2026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21208" y="2029968"/>
            <a:ext cx="2496312" cy="12618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A1209"/>
                </a:solidFill>
                <a:latin typeface="Georgia"/>
              </a:rPr>
              <a:t>AlterEgo Launch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11480" y="3822191"/>
            <a:ext cx="2697480" cy="2633472"/>
          </a:xfrm>
          <a:prstGeom prst="rect">
            <a:avLst/>
          </a:prstGeom>
          <a:solidFill>
            <a:srgbClr val="F0EB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11480" y="3822191"/>
            <a:ext cx="2697480" cy="64008"/>
          </a:xfrm>
          <a:prstGeom prst="rect">
            <a:avLst/>
          </a:prstGeom>
          <a:solidFill>
            <a:srgbClr val="8A74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21208" y="3950208"/>
            <a:ext cx="2496312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A2C1E"/>
                </a:solidFill>
                <a:latin typeface="Calibri"/>
              </a:rPr>
              <a:t>▪  Onboard AlterEgo members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21208" y="4544568"/>
            <a:ext cx="2496312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A2C1E"/>
                </a:solidFill>
                <a:latin typeface="Calibri"/>
              </a:rPr>
              <a:t>▪  QR and co-brand integration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21208" y="5138928"/>
            <a:ext cx="2496312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A2C1E"/>
                </a:solidFill>
                <a:latin typeface="Calibri"/>
              </a:rPr>
              <a:t>▪  Gather usage and feedback data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21208" y="5733288"/>
            <a:ext cx="2496312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A2C1E"/>
                </a:solidFill>
                <a:latin typeface="Calibri"/>
              </a:rPr>
              <a:t>▪  Iterate based on member response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12564" y="3520440"/>
            <a:ext cx="292608" cy="292608"/>
          </a:xfrm>
          <a:prstGeom prst="rect">
            <a:avLst/>
          </a:prstGeom>
          <a:solidFill>
            <a:srgbClr val="C88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3310128" y="1353312"/>
            <a:ext cx="2697480" cy="2084831"/>
          </a:xfrm>
          <a:prstGeom prst="rect">
            <a:avLst/>
          </a:prstGeom>
          <a:solidFill>
            <a:srgbClr val="F0EB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3310128" y="1353312"/>
            <a:ext cx="2697480" cy="64008"/>
          </a:xfrm>
          <a:prstGeom prst="rect">
            <a:avLst/>
          </a:prstGeom>
          <a:solidFill>
            <a:srgbClr val="C88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419856" y="1444752"/>
            <a:ext cx="249631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A06620"/>
                </a:solidFill>
                <a:latin typeface="Calibri"/>
              </a:rPr>
              <a:t>Phase 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419856" y="1737360"/>
            <a:ext cx="249631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A745A"/>
                </a:solidFill>
                <a:latin typeface="Calibri"/>
              </a:rPr>
              <a:t>Q4 2026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419856" y="2029968"/>
            <a:ext cx="2496312" cy="12618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A1209"/>
                </a:solidFill>
                <a:latin typeface="Georgia"/>
              </a:rPr>
              <a:t>Full App Suite Live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310128" y="3822191"/>
            <a:ext cx="2697480" cy="2633472"/>
          </a:xfrm>
          <a:prstGeom prst="rect">
            <a:avLst/>
          </a:prstGeom>
          <a:solidFill>
            <a:srgbClr val="F0EB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3310128" y="3822191"/>
            <a:ext cx="2697480" cy="64008"/>
          </a:xfrm>
          <a:prstGeom prst="rect">
            <a:avLst/>
          </a:prstGeom>
          <a:solidFill>
            <a:srgbClr val="8A74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419856" y="3950208"/>
            <a:ext cx="2496312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A2C1E"/>
                </a:solidFill>
                <a:latin typeface="Calibri"/>
              </a:rPr>
              <a:t>▪  Supplement Tracker launch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419856" y="4544568"/>
            <a:ext cx="2496312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A2C1E"/>
                </a:solidFill>
                <a:latin typeface="Calibri"/>
              </a:rPr>
              <a:t>▪  Body Comp Tracker launch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419856" y="5138928"/>
            <a:ext cx="2496312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A2C1E"/>
                </a:solidFill>
                <a:latin typeface="Calibri"/>
              </a:rPr>
              <a:t>▪  Elite member tier goes live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419856" y="5733288"/>
            <a:ext cx="2496312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A2C1E"/>
                </a:solidFill>
                <a:latin typeface="Calibri"/>
              </a:rPr>
              <a:t>▪  Coach dashboard enters beta</a:t>
            </a:r>
          </a:p>
        </p:txBody>
      </p:sp>
      <p:sp>
        <p:nvSpPr>
          <p:cNvPr id="32" name="Rectangle 31"/>
          <p:cNvSpPr/>
          <p:nvPr/>
        </p:nvSpPr>
        <p:spPr>
          <a:xfrm>
            <a:off x="7411212" y="3520440"/>
            <a:ext cx="292608" cy="292608"/>
          </a:xfrm>
          <a:prstGeom prst="rect">
            <a:avLst/>
          </a:prstGeom>
          <a:solidFill>
            <a:srgbClr val="C88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208776" y="1353312"/>
            <a:ext cx="2697480" cy="2084831"/>
          </a:xfrm>
          <a:prstGeom prst="rect">
            <a:avLst/>
          </a:prstGeom>
          <a:solidFill>
            <a:srgbClr val="F0EB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6208776" y="1353312"/>
            <a:ext cx="2697480" cy="64008"/>
          </a:xfrm>
          <a:prstGeom prst="rect">
            <a:avLst/>
          </a:prstGeom>
          <a:solidFill>
            <a:srgbClr val="C88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318504" y="1444752"/>
            <a:ext cx="249631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A06620"/>
                </a:solidFill>
                <a:latin typeface="Calibri"/>
              </a:rPr>
              <a:t>Phase 3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318504" y="1737360"/>
            <a:ext cx="249631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A745A"/>
                </a:solidFill>
                <a:latin typeface="Calibri"/>
              </a:rPr>
              <a:t>Q1 - Q2 2027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318504" y="2029968"/>
            <a:ext cx="2496312" cy="12618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A1209"/>
                </a:solidFill>
                <a:latin typeface="Georgia"/>
              </a:rPr>
              <a:t>GCC Expansion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208776" y="3822191"/>
            <a:ext cx="2697480" cy="2633472"/>
          </a:xfrm>
          <a:prstGeom prst="rect">
            <a:avLst/>
          </a:prstGeom>
          <a:solidFill>
            <a:srgbClr val="F0EB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6208776" y="3822191"/>
            <a:ext cx="2697480" cy="64008"/>
          </a:xfrm>
          <a:prstGeom prst="rect">
            <a:avLst/>
          </a:prstGeom>
          <a:solidFill>
            <a:srgbClr val="8A74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318504" y="3950208"/>
            <a:ext cx="2496312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A2C1E"/>
                </a:solidFill>
                <a:latin typeface="Calibri"/>
              </a:rPr>
              <a:t>▪  Partner gyms in KSA, UAE, Kuwait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318504" y="4544568"/>
            <a:ext cx="2496312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A2C1E"/>
                </a:solidFill>
                <a:latin typeface="Calibri"/>
              </a:rPr>
              <a:t>▪  Arabic language support added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318504" y="5138928"/>
            <a:ext cx="2496312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A2C1E"/>
                </a:solidFill>
                <a:latin typeface="Calibri"/>
              </a:rPr>
              <a:t>▪  Regional food database integrated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318504" y="5733288"/>
            <a:ext cx="2496312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A2C1E"/>
                </a:solidFill>
                <a:latin typeface="Calibri"/>
              </a:rPr>
              <a:t>▪  Multi-gym coach dashboard</a:t>
            </a:r>
          </a:p>
        </p:txBody>
      </p:sp>
      <p:sp>
        <p:nvSpPr>
          <p:cNvPr id="44" name="Rectangle 43"/>
          <p:cNvSpPr/>
          <p:nvPr/>
        </p:nvSpPr>
        <p:spPr>
          <a:xfrm>
            <a:off x="10309860" y="3520440"/>
            <a:ext cx="292608" cy="292608"/>
          </a:xfrm>
          <a:prstGeom prst="rect">
            <a:avLst/>
          </a:prstGeom>
          <a:solidFill>
            <a:srgbClr val="C88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9107424" y="1353312"/>
            <a:ext cx="2697480" cy="2084831"/>
          </a:xfrm>
          <a:prstGeom prst="rect">
            <a:avLst/>
          </a:prstGeom>
          <a:solidFill>
            <a:srgbClr val="F0EB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9107424" y="1353312"/>
            <a:ext cx="2697480" cy="64008"/>
          </a:xfrm>
          <a:prstGeom prst="rect">
            <a:avLst/>
          </a:prstGeom>
          <a:solidFill>
            <a:srgbClr val="C88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9217152" y="1444752"/>
            <a:ext cx="249631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A06620"/>
                </a:solidFill>
                <a:latin typeface="Calibri"/>
              </a:rPr>
              <a:t>Phase 4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9217152" y="1737360"/>
            <a:ext cx="249631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A745A"/>
                </a:solidFill>
                <a:latin typeface="Calibri"/>
              </a:rPr>
              <a:t>2027+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9217152" y="2029968"/>
            <a:ext cx="2496312" cy="12618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A1209"/>
                </a:solidFill>
                <a:latin typeface="Georgia"/>
              </a:rPr>
              <a:t>Platform Scale</a:t>
            </a:r>
          </a:p>
        </p:txBody>
      </p:sp>
      <p:sp>
        <p:nvSpPr>
          <p:cNvPr id="50" name="Rectangle 49"/>
          <p:cNvSpPr/>
          <p:nvPr/>
        </p:nvSpPr>
        <p:spPr>
          <a:xfrm>
            <a:off x="9107424" y="3822191"/>
            <a:ext cx="2697480" cy="2633472"/>
          </a:xfrm>
          <a:prstGeom prst="rect">
            <a:avLst/>
          </a:prstGeom>
          <a:solidFill>
            <a:srgbClr val="F0EB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9107424" y="3822191"/>
            <a:ext cx="2697480" cy="64008"/>
          </a:xfrm>
          <a:prstGeom prst="rect">
            <a:avLst/>
          </a:prstGeom>
          <a:solidFill>
            <a:srgbClr val="8A74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9217152" y="3950208"/>
            <a:ext cx="2496312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A2C1E"/>
                </a:solidFill>
                <a:latin typeface="Calibri"/>
              </a:rPr>
              <a:t>▪  White-label licensing model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9217152" y="4544568"/>
            <a:ext cx="2496312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A2C1E"/>
                </a:solidFill>
                <a:latin typeface="Calibri"/>
              </a:rPr>
              <a:t>▪  B2B gym SaaS subscription offer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9217152" y="5138928"/>
            <a:ext cx="2496312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A2C1E"/>
                </a:solidFill>
                <a:latin typeface="Calibri"/>
              </a:rPr>
              <a:t>▪  Dietitian and PT integrations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9217152" y="5733288"/>
            <a:ext cx="2496312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A2C1E"/>
                </a:solidFill>
                <a:latin typeface="Calibri"/>
              </a:rPr>
              <a:t>▪  International market expansion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88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11480" y="256032"/>
            <a:ext cx="2194560" cy="256032"/>
          </a:xfrm>
          <a:prstGeom prst="rect">
            <a:avLst/>
          </a:prstGeom>
          <a:solidFill>
            <a:srgbClr val="C88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265176"/>
            <a:ext cx="21945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THE OPPORTUNITY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621792"/>
            <a:ext cx="1136599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1A1209"/>
                </a:solidFill>
                <a:latin typeface="Georgia"/>
              </a:rPr>
              <a:t>The numbers make the case.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1188720"/>
            <a:ext cx="11365992" cy="32004"/>
          </a:xfrm>
          <a:prstGeom prst="rect">
            <a:avLst/>
          </a:prstGeom>
          <a:solidFill>
            <a:srgbClr val="C88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11480" y="1353312"/>
            <a:ext cx="5394960" cy="1536192"/>
          </a:xfrm>
          <a:prstGeom prst="rect">
            <a:avLst/>
          </a:prstGeom>
          <a:solidFill>
            <a:srgbClr val="F0EB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11480" y="1353312"/>
            <a:ext cx="5394960" cy="64008"/>
          </a:xfrm>
          <a:prstGeom prst="rect">
            <a:avLst/>
          </a:prstGeom>
          <a:solidFill>
            <a:srgbClr val="C88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" y="1463040"/>
            <a:ext cx="507492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 i="0">
                <a:solidFill>
                  <a:srgbClr val="C8873A"/>
                </a:solidFill>
                <a:latin typeface="Georgia"/>
              </a:rPr>
              <a:t>68%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2130552"/>
            <a:ext cx="50749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3A2C1E"/>
                </a:solidFill>
                <a:latin typeface="Calibri"/>
              </a:rPr>
              <a:t>of gym members say nutrition is their biggest barrier to results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153912" y="1353312"/>
            <a:ext cx="5394960" cy="1536192"/>
          </a:xfrm>
          <a:prstGeom prst="rect">
            <a:avLst/>
          </a:prstGeom>
          <a:solidFill>
            <a:srgbClr val="F0EB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153912" y="1353312"/>
            <a:ext cx="5394960" cy="64008"/>
          </a:xfrm>
          <a:prstGeom prst="rect">
            <a:avLst/>
          </a:prstGeom>
          <a:solidFill>
            <a:srgbClr val="C88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36792" y="1463040"/>
            <a:ext cx="507492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 i="0">
                <a:solidFill>
                  <a:srgbClr val="C8873A"/>
                </a:solidFill>
                <a:latin typeface="Georgia"/>
              </a:rPr>
              <a:t>3x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36792" y="2130552"/>
            <a:ext cx="50749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3A2C1E"/>
                </a:solidFill>
                <a:latin typeface="Calibri"/>
              </a:rPr>
              <a:t>higher member retention when nutrition support is included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11480" y="3072384"/>
            <a:ext cx="5394960" cy="1536192"/>
          </a:xfrm>
          <a:prstGeom prst="rect">
            <a:avLst/>
          </a:prstGeom>
          <a:solidFill>
            <a:srgbClr val="F0EB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11480" y="3072384"/>
            <a:ext cx="5394960" cy="64008"/>
          </a:xfrm>
          <a:prstGeom prst="rect">
            <a:avLst/>
          </a:prstGeom>
          <a:solidFill>
            <a:srgbClr val="C88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94360" y="3182112"/>
            <a:ext cx="507492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 i="0">
                <a:solidFill>
                  <a:srgbClr val="C8873A"/>
                </a:solidFill>
                <a:latin typeface="Georgia"/>
              </a:rPr>
              <a:t>QAR 150-300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94360" y="3849624"/>
            <a:ext cx="50749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3A2C1E"/>
                </a:solidFill>
                <a:latin typeface="Calibri"/>
              </a:rPr>
              <a:t>estimated monthly willingness-to-pay for a premium digital fitness toolkit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153912" y="3072384"/>
            <a:ext cx="5394960" cy="1536192"/>
          </a:xfrm>
          <a:prstGeom prst="rect">
            <a:avLst/>
          </a:prstGeom>
          <a:solidFill>
            <a:srgbClr val="F0EB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153912" y="3072384"/>
            <a:ext cx="5394960" cy="64008"/>
          </a:xfrm>
          <a:prstGeom prst="rect">
            <a:avLst/>
          </a:prstGeom>
          <a:solidFill>
            <a:srgbClr val="C88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336792" y="3182112"/>
            <a:ext cx="507492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 i="0">
                <a:solidFill>
                  <a:srgbClr val="C8873A"/>
                </a:solidFill>
                <a:latin typeface="Georgia"/>
              </a:rPr>
              <a:t>94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36792" y="3849624"/>
            <a:ext cx="50749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3A2C1E"/>
                </a:solidFill>
                <a:latin typeface="Calibri"/>
              </a:rPr>
              <a:t>ready-to-cook recipes already live  —  zero development cost to deploy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11480" y="4791456"/>
            <a:ext cx="5394960" cy="1536192"/>
          </a:xfrm>
          <a:prstGeom prst="rect">
            <a:avLst/>
          </a:prstGeom>
          <a:solidFill>
            <a:srgbClr val="F0EB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11480" y="4791456"/>
            <a:ext cx="5394960" cy="64008"/>
          </a:xfrm>
          <a:prstGeom prst="rect">
            <a:avLst/>
          </a:prstGeom>
          <a:solidFill>
            <a:srgbClr val="C88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94360" y="4901184"/>
            <a:ext cx="507492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 i="0">
                <a:solidFill>
                  <a:srgbClr val="C8873A"/>
                </a:solidFill>
                <a:latin typeface="Georgia"/>
              </a:rPr>
              <a:t>3 apps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94360" y="5568696"/>
            <a:ext cx="50749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3A2C1E"/>
                </a:solidFill>
                <a:latin typeface="Calibri"/>
              </a:rPr>
              <a:t>in the ecosystem, full suite available within 12 months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153912" y="4791456"/>
            <a:ext cx="5394960" cy="1536192"/>
          </a:xfrm>
          <a:prstGeom prst="rect">
            <a:avLst/>
          </a:prstGeom>
          <a:solidFill>
            <a:srgbClr val="F0EB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153912" y="4791456"/>
            <a:ext cx="5394960" cy="64008"/>
          </a:xfrm>
          <a:prstGeom prst="rect">
            <a:avLst/>
          </a:prstGeom>
          <a:solidFill>
            <a:srgbClr val="C88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336792" y="4901184"/>
            <a:ext cx="507492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 i="0">
                <a:solidFill>
                  <a:srgbClr val="C8873A"/>
                </a:solidFill>
                <a:latin typeface="Georgia"/>
              </a:rPr>
              <a:t>1 gym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336792" y="5568696"/>
            <a:ext cx="50749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3A2C1E"/>
                </a:solidFill>
                <a:latin typeface="Calibri"/>
              </a:rPr>
              <a:t>in Doha positioned to offer this first  —  first-mover advantage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88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11480" y="256032"/>
            <a:ext cx="2194560" cy="256032"/>
          </a:xfrm>
          <a:prstGeom prst="rect">
            <a:avLst/>
          </a:prstGeom>
          <a:solidFill>
            <a:srgbClr val="C88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265176"/>
            <a:ext cx="21945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OUR ASK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621792"/>
            <a:ext cx="1136599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1A1209"/>
                </a:solidFill>
                <a:latin typeface="Georgia"/>
              </a:rPr>
              <a:t>Four asks. That is all it takes.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1188720"/>
            <a:ext cx="11365992" cy="32004"/>
          </a:xfrm>
          <a:prstGeom prst="rect">
            <a:avLst/>
          </a:prstGeom>
          <a:solidFill>
            <a:srgbClr val="C88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11480" y="1353312"/>
            <a:ext cx="5394960" cy="2423160"/>
          </a:xfrm>
          <a:prstGeom prst="rect">
            <a:avLst/>
          </a:prstGeom>
          <a:solidFill>
            <a:srgbClr val="F0EB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11480" y="1353312"/>
            <a:ext cx="64008" cy="2423160"/>
          </a:xfrm>
          <a:prstGeom prst="rect">
            <a:avLst/>
          </a:prstGeom>
          <a:solidFill>
            <a:srgbClr val="C88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" y="1463040"/>
            <a:ext cx="51206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A1209"/>
                </a:solidFill>
                <a:latin typeface="Georgia"/>
              </a:rPr>
              <a:t>Promote to Your Members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1920240"/>
            <a:ext cx="512064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A2C1E"/>
                </a:solidFill>
                <a:latin typeface="Calibri"/>
              </a:rPr>
              <a:t>An introduction to the member base: email, social media, and in-gym QR codes. We handle all the tech. You provide the reach. That is the entire deal.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153912" y="1353312"/>
            <a:ext cx="5394960" cy="2423160"/>
          </a:xfrm>
          <a:prstGeom prst="rect">
            <a:avLst/>
          </a:prstGeom>
          <a:solidFill>
            <a:srgbClr val="F0EB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153912" y="1353312"/>
            <a:ext cx="64008" cy="2423160"/>
          </a:xfrm>
          <a:prstGeom prst="rect">
            <a:avLst/>
          </a:prstGeom>
          <a:solidFill>
            <a:srgbClr val="C88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36792" y="1463040"/>
            <a:ext cx="51206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A1209"/>
                </a:solidFill>
                <a:latin typeface="Georgia"/>
              </a:rPr>
              <a:t>Trainer and Coach Buy-In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36792" y="1920240"/>
            <a:ext cx="512064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A2C1E"/>
                </a:solidFill>
                <a:latin typeface="Calibri"/>
              </a:rPr>
              <a:t>Your coaches recommend the app during onboarding. When PTs trust the tool, members follow. A 10-minute trainer demo is all it takes to get full adoption.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11480" y="3959352"/>
            <a:ext cx="5394960" cy="2423160"/>
          </a:xfrm>
          <a:prstGeom prst="rect">
            <a:avLst/>
          </a:prstGeom>
          <a:solidFill>
            <a:srgbClr val="F0EB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11480" y="3959352"/>
            <a:ext cx="64008" cy="2423160"/>
          </a:xfrm>
          <a:prstGeom prst="rect">
            <a:avLst/>
          </a:prstGeom>
          <a:solidFill>
            <a:srgbClr val="C88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94360" y="4069080"/>
            <a:ext cx="51206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A1209"/>
                </a:solidFill>
                <a:latin typeface="Georgia"/>
              </a:rPr>
              <a:t>Aggregate Usage Feedback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94360" y="4526280"/>
            <a:ext cx="512064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A2C1E"/>
                </a:solidFill>
                <a:latin typeface="Calibri"/>
              </a:rPr>
              <a:t>Anonymous data on how members interact with the app helps us iterate and improve. No personal data. Just signals on what is working and what to build next.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153912" y="3959352"/>
            <a:ext cx="5394960" cy="2423160"/>
          </a:xfrm>
          <a:prstGeom prst="rect">
            <a:avLst/>
          </a:prstGeom>
          <a:solidFill>
            <a:srgbClr val="F0EB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153912" y="3959352"/>
            <a:ext cx="64008" cy="2423160"/>
          </a:xfrm>
          <a:prstGeom prst="rect">
            <a:avLst/>
          </a:prstGeom>
          <a:solidFill>
            <a:srgbClr val="C88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336792" y="4069080"/>
            <a:ext cx="51206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A1209"/>
                </a:solidFill>
                <a:latin typeface="Georgia"/>
              </a:rPr>
              <a:t>A 30-Day Pilot Group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36792" y="4526280"/>
            <a:ext cx="512064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A2C1E"/>
                </a:solidFill>
                <a:latin typeface="Calibri"/>
              </a:rPr>
              <a:t>Let us run a pilot with 20 to 30 AlterEgo members. We will present the results together and agree on the full partnership structure based on real evidence.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20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C88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con-25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57800" y="594360"/>
            <a:ext cx="1645920" cy="164592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31520" y="2423160"/>
            <a:ext cx="106984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  <a:latin typeface="Georgia"/>
              </a:rPr>
              <a:t>Let's build something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090672"/>
            <a:ext cx="106984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C8873A"/>
                </a:solidFill>
                <a:latin typeface="Georgia"/>
              </a:rPr>
              <a:t>worth training for.</a:t>
            </a:r>
          </a:p>
        </p:txBody>
      </p:sp>
      <p:sp>
        <p:nvSpPr>
          <p:cNvPr id="6" name="Rectangle 5"/>
          <p:cNvSpPr/>
          <p:nvPr/>
        </p:nvSpPr>
        <p:spPr>
          <a:xfrm>
            <a:off x="2926080" y="3913632"/>
            <a:ext cx="6336792" cy="36576"/>
          </a:xfrm>
          <a:prstGeom prst="rect">
            <a:avLst/>
          </a:prstGeom>
          <a:solidFill>
            <a:srgbClr val="C88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4069080"/>
            <a:ext cx="1127455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1">
                <a:solidFill>
                  <a:srgbClr val="C8873A"/>
                </a:solidFill>
                <a:latin typeface="Calibri"/>
              </a:rPr>
              <a:t>REAL FOOD  ·  MADE SIMPLE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4617720"/>
            <a:ext cx="1127455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F5F0E8"/>
                </a:solidFill>
                <a:latin typeface="Calibri"/>
              </a:rPr>
              <a:t>dejan.zerafa@icloud.com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983480"/>
            <a:ext cx="1127455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F5F0E8"/>
                </a:solidFill>
                <a:latin typeface="Calibri"/>
              </a:rPr>
              <a:t>soulgainz.com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5486400"/>
            <a:ext cx="1127455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1">
                <a:solidFill>
                  <a:srgbClr val="8A745A"/>
                </a:solidFill>
                <a:latin typeface="Calibri"/>
              </a:rPr>
              <a:t>Presented exclusively to AlterEgo Gym, Doha  ·  Confidential  ·  May 2026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01168" y="6172200"/>
            <a:ext cx="11987784" cy="685800"/>
          </a:xfrm>
          <a:prstGeom prst="rect">
            <a:avLst/>
          </a:prstGeom>
          <a:solidFill>
            <a:srgbClr val="261A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" y="6217920"/>
            <a:ext cx="1127455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C8873A"/>
                </a:solidFill>
                <a:latin typeface="Calibri"/>
              </a:rPr>
              <a:t>SoulGainz  ·  Built by Athletes, for Athletes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